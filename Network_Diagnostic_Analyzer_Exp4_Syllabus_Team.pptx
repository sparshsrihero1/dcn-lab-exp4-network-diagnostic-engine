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10728655" cy="5669280"/>
          </a:xfrm>
          <a:prstGeom prst="roundRect">
            <a:avLst/>
          </a:prstGeom>
          <a:solidFill>
            <a:srgbClr val="18223A"/>
          </a:solidFill>
          <a:ln>
            <a:solidFill>
              <a:srgbClr val="2D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04672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EA5E9"/>
                </a:solidFill>
              </a:defRPr>
            </a:pPr>
            <a:r>
              <a:t>DATA COMMUNICATION &amp; NETWORKS LAB  •  ACADEMIC COURSE PROJECT</a:t>
            </a:r>
          </a:p>
          <a:p>
            <a:pPr>
              <a:spcBef>
                <a:spcPts val="700"/>
              </a:spcBef>
              <a:defRPr sz="2500" b="1">
                <a:solidFill>
                  <a:srgbClr val="FFFFFF"/>
                </a:solidFill>
              </a:defRPr>
            </a:pPr>
            <a:r>
              <a:t>Experiment 4: Network Diagnostic &amp; Topology Path Analyzer Engine</a:t>
            </a:r>
          </a:p>
          <a:p>
            <a:pPr>
              <a:spcBef>
                <a:spcPts val="700"/>
              </a:spcBef>
              <a:defRPr sz="1150" b="1">
                <a:solidFill>
                  <a:srgbClr val="CBD5E1"/>
                </a:solidFill>
              </a:defRPr>
            </a:pPr>
            <a:r>
              <a:t>Batch ID: DCN_17_02  |  Group 4  |  Grounded in Syllabus Units I, IV &amp; V (OSI, IP Datagram, QoS &amp; Congestion)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971800"/>
            <a:ext cx="1965960" cy="24688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Member 1</a:t>
            </a:r>
          </a:p>
          <a:p>
            <a:pPr>
              <a:spcBef>
                <a:spcPts val="300"/>
              </a:spcBef>
              <a:defRPr sz="1150" b="1">
                <a:solidFill>
                  <a:srgbClr val="FFFFFF"/>
                </a:solidFill>
              </a:defRPr>
            </a:pPr>
            <a:r>
              <a:t>Sparsh Srivastava</a:t>
            </a:r>
          </a:p>
          <a:p>
            <a:pPr>
              <a:spcBef>
                <a:spcPts val="300"/>
              </a:spcBef>
              <a:defRPr sz="950" b="1">
                <a:solidFill>
                  <a:srgbClr val="E2E8F0"/>
                </a:solidFill>
              </a:defRPr>
            </a:pPr>
            <a:r>
              <a:t>SAP: 590022251</a:t>
            </a:r>
          </a:p>
          <a:p>
            <a:pPr>
              <a:spcBef>
                <a:spcPts val="700"/>
              </a:spcBef>
              <a:defRPr sz="850">
                <a:solidFill>
                  <a:srgbClr val="94A3B8"/>
                </a:solidFill>
              </a:defRPr>
            </a:pPr>
            <a:r>
              <a:t>Project Lead</a:t>
            </a:r>
            <a:br/>
            <a:r>
              <a:t>OSI Layering &amp; IP Datagram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1528" y="2971800"/>
            <a:ext cx="1965960" cy="24688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8" y="310896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Member 2</a:t>
            </a:r>
          </a:p>
          <a:p>
            <a:pPr>
              <a:spcBef>
                <a:spcPts val="300"/>
              </a:spcBef>
              <a:defRPr sz="1150" b="1">
                <a:solidFill>
                  <a:srgbClr val="FFFFFF"/>
                </a:solidFill>
              </a:defRPr>
            </a:pPr>
            <a:r>
              <a:t>Aayushman Kothari</a:t>
            </a:r>
          </a:p>
          <a:p>
            <a:pPr>
              <a:spcBef>
                <a:spcPts val="300"/>
              </a:spcBef>
              <a:defRPr sz="950" b="1">
                <a:solidFill>
                  <a:srgbClr val="E2E8F0"/>
                </a:solidFill>
              </a:defRPr>
            </a:pPr>
            <a:r>
              <a:t>SAP: 590025499</a:t>
            </a:r>
          </a:p>
          <a:p>
            <a:pPr>
              <a:spcBef>
                <a:spcPts val="700"/>
              </a:spcBef>
              <a:defRPr sz="850">
                <a:solidFill>
                  <a:srgbClr val="94A3B8"/>
                </a:solidFill>
              </a:defRPr>
            </a:pPr>
            <a:r>
              <a:t>Subprocess Engineering</a:t>
            </a:r>
            <a:br/>
            <a:r>
              <a:t>DNS Hierarchy &amp; Socket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7216" y="2971800"/>
            <a:ext cx="1965960" cy="24688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48656" y="310896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Member 3</a:t>
            </a:r>
          </a:p>
          <a:p>
            <a:pPr>
              <a:spcBef>
                <a:spcPts val="300"/>
              </a:spcBef>
              <a:defRPr sz="1150" b="1">
                <a:solidFill>
                  <a:srgbClr val="FFFFFF"/>
                </a:solidFill>
              </a:defRPr>
            </a:pPr>
            <a:r>
              <a:t>Yasharth Jaiswal</a:t>
            </a:r>
          </a:p>
          <a:p>
            <a:pPr>
              <a:spcBef>
                <a:spcPts val="300"/>
              </a:spcBef>
              <a:defRPr sz="950" b="1">
                <a:solidFill>
                  <a:srgbClr val="E2E8F0"/>
                </a:solidFill>
              </a:defRPr>
            </a:pPr>
            <a:r>
              <a:t>SAP: 590023687</a:t>
            </a:r>
          </a:p>
          <a:p>
            <a:pPr>
              <a:spcBef>
                <a:spcPts val="700"/>
              </a:spcBef>
              <a:defRPr sz="850">
                <a:solidFill>
                  <a:srgbClr val="94A3B8"/>
                </a:solidFill>
              </a:defRPr>
            </a:pPr>
            <a:r>
              <a:t>Regex Parsing Core</a:t>
            </a:r>
            <a:br/>
            <a:r>
              <a:t>Metric Extraction &amp; Hop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2971800"/>
            <a:ext cx="1965960" cy="24688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310896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Member 4</a:t>
            </a:r>
          </a:p>
          <a:p>
            <a:pPr>
              <a:spcBef>
                <a:spcPts val="300"/>
              </a:spcBef>
              <a:defRPr sz="1150" b="1">
                <a:solidFill>
                  <a:srgbClr val="FFFFFF"/>
                </a:solidFill>
              </a:defRPr>
            </a:pPr>
            <a:r>
              <a:t>Satvik Arora</a:t>
            </a:r>
          </a:p>
          <a:p>
            <a:pPr>
              <a:spcBef>
                <a:spcPts val="300"/>
              </a:spcBef>
              <a:defRPr sz="950" b="1">
                <a:solidFill>
                  <a:srgbClr val="E2E8F0"/>
                </a:solidFill>
              </a:defRPr>
            </a:pPr>
            <a:r>
              <a:t>SAP: 590028424</a:t>
            </a:r>
          </a:p>
          <a:p>
            <a:pPr>
              <a:spcBef>
                <a:spcPts val="700"/>
              </a:spcBef>
              <a:defRPr sz="850">
                <a:solidFill>
                  <a:srgbClr val="94A3B8"/>
                </a:solidFill>
              </a:defRPr>
            </a:pPr>
            <a:r>
              <a:t>Latency Benchmarking</a:t>
            </a:r>
            <a:br/>
            <a:r>
              <a:t>BGP Peering &amp; Transit Bottlenecks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8592" y="2971800"/>
            <a:ext cx="1965960" cy="24688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0032" y="310896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Member 5</a:t>
            </a:r>
          </a:p>
          <a:p>
            <a:pPr>
              <a:spcBef>
                <a:spcPts val="300"/>
              </a:spcBef>
              <a:defRPr sz="1150" b="1">
                <a:solidFill>
                  <a:srgbClr val="FFFFFF"/>
                </a:solidFill>
              </a:defRPr>
            </a:pPr>
            <a:r>
              <a:t>Yashvardhan Singh</a:t>
            </a:r>
          </a:p>
          <a:p>
            <a:pPr>
              <a:spcBef>
                <a:spcPts val="300"/>
              </a:spcBef>
              <a:defRPr sz="950" b="1">
                <a:solidFill>
                  <a:srgbClr val="E2E8F0"/>
                </a:solidFill>
              </a:defRPr>
            </a:pPr>
            <a:r>
              <a:t>SAP: 590021777</a:t>
            </a:r>
          </a:p>
          <a:p>
            <a:pPr>
              <a:spcBef>
                <a:spcPts val="700"/>
              </a:spcBef>
              <a:defRPr sz="850">
                <a:solidFill>
                  <a:srgbClr val="94A3B8"/>
                </a:solidFill>
              </a:defRPr>
            </a:pPr>
            <a:r>
              <a:t>Temporal Telemetry</a:t>
            </a:r>
            <a:br/>
            <a:r>
              <a:t>Diurnal Heatmaps &amp; Transport QoS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</a:defRPr>
            </a:pPr>
            <a:r>
              <a:t>All 3 Student Tasks Fully Implemented • Subprocess Automation • Regex Extraction • Visual Charts &amp; Latency Heatmaps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COURSE &amp; SYLLABUS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Bridging Academic Syllabus Concepts with Experiment 4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How our telemetry tool maps directly across DCN Units I, IV, and V.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Unit I &amp; IV: Layering &amp; IP Datagram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Layer Separation (OSI / TCP-IP):</a:t>
            </a:r>
            <a:r>
              <a:t> Demonstrates how network layer packets (IP Datagrams) are encapsulated into Data Link frames to traverse heterogeneous topologies (LAN, MAN, WAN).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IP Addressing &amp; Masking:</a:t>
            </a:r>
            <a:r>
              <a:t> Evaluates IPv4 address classes, loopback testing (127.0.0.1), local gateway subnet boundaries, and global public routing.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The 8-Bit TTL Field:</a:t>
            </a:r>
            <a:r>
              <a:t> Directly demonstrates the Time-To-Live countdown designed to prevent routing loops, using TTL-exceeded triggers to uncover path topologies.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Routing Protocols Context:</a:t>
            </a:r>
            <a:r>
              <a:t> Highlights real-world effects of interior (OSPF) vs exterior (BGP) routing policies along intermediate router hops.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755648"/>
            <a:ext cx="73152" cy="44439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Unit V: Transport, Jitter &amp; Congestion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Performance Metrics:</a:t>
            </a:r>
            <a:r>
              <a:t> Measures Round-Trip Time (RTT), delay jitter, and packet loss percentages under live network load.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Congestion &amp; Bufferbloat:</a:t>
            </a:r>
            <a:r>
              <a:t> Explains why intermediate hops experience sudden latency spikes during peak usage hours due to queue buildup.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Quality of Service (QoS):</a:t>
            </a:r>
            <a:r>
              <a:t> Illustrates why real-time protocols (UDP streaming/VoIP) suffer when path delay variance (jitter) is unstable.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Socket Address Resolution:</a:t>
            </a:r>
            <a:r>
              <a:t> Integrates transport layer port concepts with DNS domain-to-socket mapping using nslookup.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5661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755648"/>
            <a:ext cx="73152" cy="44439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792224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Students Tasks (Lab Guidelines)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Task 1 (Subprocess Wrappers):</a:t>
            </a:r>
            <a:r>
              <a:t> Develop a unified Python tool executing ping, traceroute/tracert, and nslookup with cross-platform compatibility.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Task 2 (Stdout Parsing Engine):</a:t>
            </a:r>
            <a:r>
              <a:t> Parse raw terminal outputs to extract min/avg/max RTT, packet loss %, and ordered router hops.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Task 3 (Visual Analytics):</a:t>
            </a:r>
            <a:r>
              <a:t> Display comparative latency charts and diurnal heatmaps evaluating reachability across diverse public hosts.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All 5 Team Members:</a:t>
            </a:r>
            <a:r>
              <a:t> Assigned clear, distinct modules matching their technical specialization.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SECTION 1 • PROBLEM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SPARSH SRIVASTAVA (590022251)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Diagnostic Bottleneck: Why Manual CLI Probing Fails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Overcoming terminal clutter and disconnected diagnostics during live network failures.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Real-World Engineering Problem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The Ambiguous 'Internet Is Down':</a:t>
            </a:r>
            <a:r>
              <a:t> When packet delivery degrades, network engineers cannot intuitively pinpoint if the failure is in the local LAN switch, the ISP fiber link, or the cloud provider.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Manual Terminal Fragmentation:</a:t>
            </a:r>
            <a:r>
              <a:t> Troubleshooting requires switching between 3 separate CLI tools (`ping`, `tracert`, `nslookup`), leaving no unified telemetry record.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Non-Standardized CLI Syntaxes:</a:t>
            </a:r>
            <a:r>
              <a:t> Windows reports milliseconds with commas; Linux reports slash-delimited floats (`min/avg/max/mdev`). There is no common data schema.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Ephemeral Text Clutter:</a:t>
            </a:r>
            <a:r>
              <a:t> Thousands of lines of scrolling terminal output make spotting intermittent packet drop trends nearly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55648"/>
            <a:ext cx="73152" cy="44439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92224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Our Engineering Solution &amp; Goals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Automated Telemetry Pipeline:</a:t>
            </a:r>
            <a:r>
              <a:t> A lightweight Python engine that orchestrates diagnostic commands and unifies metrics into structured objects.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Zero External Networking Dependencies:</a:t>
            </a:r>
            <a:r>
              <a:t> Built strictly using built-in system tools (`subprocess`, `re`) so it runs instantly on any lab workstation.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Multi-Target Concurrency:</a:t>
            </a:r>
            <a:r>
              <a:t> Probes the local gateway, regional ISP peering, Anycast DNS, and global CDNs in parallel.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Academic &amp; Professional Impact:</a:t>
            </a:r>
            <a:r>
              <a:t> Translates theoretical OSI Layer 3/4 mechanics into tangible, graphical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SECTION 1 • THEORETICAL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SPARSH SRIVASTAVA (590022251)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Protocol Physics: Inside the IP Datagram &amp; ICMP Messaging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Connecting Unit IV Network Layer concepts: RFC 792, loop prevention, and path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ICMP Echo Mechanics (RFC 792)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Echo Request (Type 8):</a:t>
            </a:r>
            <a:r>
              <a:t> Sent inside an IP Datagram to test host reachability at Layer 3.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Echo Reply (Type 0):</a:t>
            </a:r>
            <a:r>
              <a:t> Destination replies with identical payload data.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Kernel Timestamps:</a:t>
            </a:r>
            <a:r>
              <a:t> The OS calculates precision Round-Trip Time (RTT = T_receive - T_send).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Firewall Considerations:</a:t>
            </a:r>
            <a:r>
              <a:t> Modern edge firewalls often drop ICMP to mitigate DDoS/reconnaissance; our engine distinguishes packet loss from unreachability.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755648"/>
            <a:ext cx="73152" cy="44439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8-Bit TTL Field in Action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Loop Prevention:</a:t>
            </a:r>
            <a:r>
              <a:t> The IPv4 header's 8-bit Time-To-Live prevents packets from looping forever in cyclic routing topologies.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The Hop Limit Decrement:</a:t>
            </a:r>
            <a:r>
              <a:t> Every intermediate router subtracts 1 from TTL. When TTL=0, the packet is discarded.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ICMP Type 11 (Time Exceeded):</a:t>
            </a:r>
            <a:r>
              <a:t> Discarding routers return an ICMP Type 11 message, unwittingly revealing their own router IP address.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Traceroute's Stepping Trick:</a:t>
            </a:r>
            <a:r>
              <a:t> By sending consecutive probes with TTL=1, 2, 3... we trace the entire topological path hop by hop.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5661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755648"/>
            <a:ext cx="73152" cy="44439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92224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Routing Asymmetry &amp; BGP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Exterior Gateway Peering:</a:t>
            </a:r>
            <a:r>
              <a:t> Packets navigate Autonomous Systems (AS) via the Border Gateway Protocol (BGP).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Asymmetric Delay:</a:t>
            </a:r>
            <a:r>
              <a:t> Outbound paths frequently follow different physical optical cables than inbound return paths.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Delay Variance:</a:t>
            </a:r>
            <a:r>
              <a:t> Teaches students why hop latencies can fluctuate even when the destination is reachable.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STUDENT TASK 1 • SUBPROCESS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AAYUSHMAN KOTHARI (590025499)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Task 1: Cross-Platform Subprocess Execution Architecture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Executing ping, tracert/traceroute, and nslookup securely and concurrently.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Subprocess Engine Design (`subprocess.run`)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Security &amp; Sanitization:</a:t>
            </a:r>
            <a:r>
              <a:t> Commands are invoked strictly as structured lists (`['ping', '-n', '4', host]`), eliminating shell injection vulnerabilities.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Automatic Platform Detection:</a:t>
            </a:r>
            <a:r>
              <a:t> Utilizes `platform.system()`. If `Windows`, maps to `ping -n` and `tracert -d`; if `Linux/macOS`, maps to `ping -c` and `traceroute -n`.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Deterministic Timeouts:</a:t>
            </a:r>
            <a:r>
              <a:t> Wraps executions in hard timeouts (`timeout=15s` for ping, `35s` for traceroute) to prevent hanging during disconnected links.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Stdout Stream Buffering:</a:t>
            </a:r>
            <a:r>
              <a:t> Captures standard output and error streams cleanly as UTF-8 strings for downstream regex parsing.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55648"/>
            <a:ext cx="73152" cy="444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92224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Engine Code Implementation Snippet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Cross-Platform Flag Mapping:</a:t>
            </a:r>
            <a:r>
              <a:t>
  cmd = ['ping', '-n' if OS_WIN else '-c', str(count), target]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Execution with Exception Handling:</a:t>
            </a:r>
            <a:r>
              <a:t>
  try:
      proc = subprocess.run(cmd, capture_output=True,
                            text=True, timeout=15)
      return proc.stdout
  except subprocess.TimeoutExpired:
      return 'ERROR: Diagnostic probe timed out'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Multi-Threading Acceleration:</a:t>
            </a:r>
            <a:r>
              <a:t> Employs `concurrent.futures.ThreadPoolExecutor` to execute diagnostic probes on multiple public targets in parallel.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STUDENT TASK 1 • DNS DIAGNOSTICS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AAYUSHMAN KOTHARI (590025499)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Task 1: The Resolution Pipeline &amp; Transport Socket Addressing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Linking Unit V port/socket concepts with hierarchical DNS domain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DNS Resolution Pipeline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From Hostnames to IP Addresses:</a:t>
            </a:r>
            <a:r>
              <a:t> Translates human-friendly domains (e.g., `google.com`) into routable 32-bit IPv4 / 128-bit IPv6 addresses.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Hierarchical Query Steps:</a:t>
            </a:r>
            <a:r>
              <a:t> Stub Resolver -&gt; Local Recursive DNS (ISP/8.8.8.8) -&gt; Root (.) -&gt; TLD (.com) -&gt; Authoritative Nameserver.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Root Cause Isolation:</a:t>
            </a:r>
            <a:r>
              <a:t> Over 40% of apparent network outages are actually DNS misconfigurations (NXDOMAIN, SERVFAIL, expired caches).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755648"/>
            <a:ext cx="73152" cy="444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Parsing `nslookup` Output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Extracting A &amp; AAAA Records:</a:t>
            </a:r>
            <a:r>
              <a:t> Pulls both IPv4 addresses (`142.250.x.x`) and IPv6 addresses (`2607:f8b0:...`) cleanly.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Local Resolving Server:</a:t>
            </a:r>
            <a:r>
              <a:t> Captures the upstream DNS gateway responding to the query.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Reverse PTR Lookups:</a:t>
            </a:r>
            <a:r>
              <a:t> Resolves IP addresses back into domain hostnames during hop trace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5661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755648"/>
            <a:ext cx="73152" cy="44439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92224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Transport Layer Connection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Unit V Socket Addressing:</a:t>
            </a:r>
            <a:r>
              <a:t> Reminds students that an endpoint is identified by (IP Address, Port Number).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Diagnostic Readiness:</a:t>
            </a:r>
            <a:r>
              <a:t> Confirms whether the target IP address is valid before sending ICMP probes, preventing misleading error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STUDENT TASK 2 • REGEX PARSING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YASHARTH JAISWAL (590023687)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Task 2: Parsing Raw Stdout into Standardized Telemetry Records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Converting messy terminal text from Windows and Linux into structured numeric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Unstructured Stdout Challenge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Windows Ping Output:</a:t>
            </a:r>
            <a:r>
              <a:t>
  `Packets: Sent = 4, Received = 4, Lost = 0 (0% loss),`
  `Minimum = 14ms, Maximum = 22ms, Average = 18ms`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Linux Ping Output:</a:t>
            </a:r>
            <a:r>
              <a:t>
  `4 packets transmitted, 4 received, 0% packet loss`
  `rtt min/avg/max/mdev = 13.912/18.420/22.105/2.110 ms`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Formatting Chaos:</a:t>
            </a:r>
            <a:r>
              <a:t> Comma separation vs slashes, integers vs decimals, different language tokens.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Task 2 Mandate:</a:t>
            </a:r>
            <a:r>
              <a:t> Reliably extract `min_rtt`, `avg_rtt`, `max_rtt`, and `loss_percent` across all operating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55648"/>
            <a:ext cx="73152" cy="444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92224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Our Regex Engine Solution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Windows Loss Pattern:</a:t>
            </a:r>
            <a:r>
              <a:t>
  `re.search(r'Lost = \d+ \((\d+)% loss\)', stdout)`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Windows RTT Pattern:</a:t>
            </a:r>
            <a:r>
              <a:t>
  `re.search(r'Minimum = (\d+)ms, Maximum = (\d+)ms, Average = (\d+)ms', stdout)`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Linux Universal Pattern:</a:t>
            </a:r>
            <a:r>
              <a:t>
  `re.search(r'min/avg/max[^=]*=\s*([\d\.]+)/([\d\.]+)/([\d\.]+)', stdout)`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Dataclass Normalization:</a:t>
            </a:r>
            <a:r>
              <a:t> Strings are immediately cast to Python floats and packaged into structured `PingResult` objects.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STUDENT TASK 2 • PATH METRIC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YASHARTH JAISWAL (590023687)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Task 2: Intermediate Router Hop Extraction &amp; Latency Profiling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Parsing traceroute lines, stripping delay qualifiers, and handling non-responsive hops.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Traceroute Line Anatomy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Windows Tracert Line:</a:t>
            </a:r>
            <a:r>
              <a:t>
  ` 3    12 ms    11 ms    14 ms  103.198.140.25`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Sub-Millisecond Hops:</a:t>
            </a:r>
            <a:r>
              <a:t>
  ` 1    &lt;1 ms    &lt;1 ms    &lt;1 ms  192.168.1.1`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Stripping Qualifiers:</a:t>
            </a:r>
            <a:r>
              <a:t> Regex matches all `(&lt;?\d+)\s*ms`, converting `&lt;1` to `0.5ms` for accurate statistical math.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Hop Number &amp; IP Isolation:</a:t>
            </a:r>
            <a:r>
              <a:t> Extracts the leading integer as the hop sequence and trailing IP as the router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755648"/>
            <a:ext cx="73152" cy="44439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92224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Handling Dropped Hops (`* * *`)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Non-Responsive Nodes:</a:t>
            </a:r>
            <a:r>
              <a:t>
  ` 6     *        *        *     Request timed out.`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Why It Happens:</a:t>
            </a:r>
            <a:r>
              <a:t> Core transit routers routinely suppress ICMP generation to protect processor queues.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Graceful Flagging:</a:t>
            </a:r>
            <a:r>
              <a:t> The parser tags these hops with `timed_out=True`, avoiding missing data points or application crashes.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Complete Sequence:</a:t>
            </a:r>
            <a:r>
              <a:t> Yields an unbroken sequence of hops ready for visual rendering in Task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5661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755648"/>
            <a:ext cx="73152" cy="44439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792224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Structured Telemetry Output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Clean JSON Object Structure:</a:t>
            </a:r>
            <a:r>
              <a:t>
{
  'hop_num': 3,
  'ip': '103.198.140.25',
  'latencies': [11.0, 12.0, 14.0],
  'avg_latency': 12.3,
  'timed_out': False
}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Direct Integration:</a:t>
            </a:r>
            <a:r>
              <a:t> Directly powers the path graphs rendered by Satvik and Yashvardhan.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STUDENT TASK 3 • VISUAL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SATVIK ARORA (590028424)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Task 3: Comparative Latency Benchmarks Across Public Target Hosts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Evaluating reachability, round-trip time, and jitter across four distinct network tiers.</a:t>
            </a:r>
          </a:p>
        </p:txBody>
      </p:sp>
      <p:pic>
        <p:nvPicPr>
          <p:cNvPr id="5" name="Picture 4" descr="late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760720" cy="30890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691640"/>
            <a:ext cx="46634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801368"/>
            <a:ext cx="73152" cy="43525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37944"/>
            <a:ext cx="4297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Empirical Observations &amp; Analysis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Local Gateway (192.168.1.1):</a:t>
            </a:r>
            <a:r>
              <a:t> Measured 1.8ms average RTT. Demonstrates immediate Layer-1/Layer-2 physical link health.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Cloudflare Anycast (1.1.1.1):</a:t>
            </a:r>
            <a:r>
              <a:t> Clocked at 14.2ms. BGP Anycast routes traffic to the nearest metropolitan Internet Exchange Point (IXP).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Google Primary (8.8.8.8):</a:t>
            </a:r>
            <a:r>
              <a:t> Clocked at 19.5ms with narrow min-max variance (16.2ms - 28.5ms), confirming minimal transmission jitter.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GitHub Portal (github.com):</a:t>
            </a:r>
            <a:r>
              <a:t> Averages 68.4ms due to trans-continental transit fiber, international gateways, and application-layer proxying.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Packet Loss Metric:</a:t>
            </a:r>
            <a:r>
              <a:t> 0.0% loss recorded across all targets, indicating zero queue buffer drops during the test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STUDENT TASK 3 • PATH ANATOMY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SATVIK ARORA (590028424)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Task 3: Hop-by-Hop Topology Path: Exposing Transit Bottlenecks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Accumulated latency curves mapping traversal through ISP substations, IXPs, and cloud endpoints.</a:t>
            </a:r>
          </a:p>
        </p:txBody>
      </p:sp>
      <p:pic>
        <p:nvPicPr>
          <p:cNvPr id="5" name="Picture 4" descr="ho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760720" cy="30890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691640"/>
            <a:ext cx="46634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801368"/>
            <a:ext cx="73152" cy="43525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37944"/>
            <a:ext cx="4297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Root Cause Path Analysis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Hops 1 to 3 (Local Loop):</a:t>
            </a:r>
            <a:r>
              <a:t> Latency remains steady under 12ms through the subscriber router and local ISP optical line terminal.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Hop 6 Bottleneck Surge (+7.1ms jump):</a:t>
            </a:r>
            <a:r>
              <a:t> A sharp spike from 13.9ms to 21.0ms marks the exact boundary where packets leave the local ISP and enter the national Tier-1 transit backbone.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Hops 8 to 10 (Target Ingress):</a:t>
            </a:r>
            <a:r>
              <a:t> Latency levels out smoothly (31ms - 33ms) upon reaching the cloud provider's internal Software Defined Network (SDN).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Key Diagnostic Finding:</a:t>
            </a:r>
            <a:r>
              <a:t> Empirically proves that connection delay stems from external transit peering, NOT local Wi-Fi or LAN switching.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STUDENT TASK 3 • TEMPORAL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YASHVARDHAN SINGH (590021777)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Task 3: Diurnal Latency Heatmaps &amp; Network Jitter Analysis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Evaluating how peak-hour consumer traffic cycles impact latency and Transport QoS (Unit V).</a:t>
            </a:r>
          </a:p>
        </p:txBody>
      </p:sp>
      <p:pic>
        <p:nvPicPr>
          <p:cNvPr id="5" name="Picture 4" descr="latenc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760720" cy="36280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691640"/>
            <a:ext cx="46634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801368"/>
            <a:ext cx="73152" cy="43525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37944"/>
            <a:ext cx="42976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Temporal Traffic Insights &amp; QoS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Peak Evening Congestion (18:</a:t>
            </a:r>
            <a:r>
              <a:t>00 - 21:00): The heatmap exhibits a noticeable shift toward warmer red tones in the evening. Cloud endpoints climb from 64.5ms to 84.5ms due to residential ISP oversubscription.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LAN Invariance:</a:t>
            </a:r>
            <a:r>
              <a:t> The local router (192.168.1.1) stays sub-2ms regardless of external internet traffic volume.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Anycast Resilience:</a:t>
            </a:r>
            <a:r>
              <a:t> Cloudflare (1.1.1.1) exhibits minimal jitter (&lt; 3.7ms delta), highlighting the stability of distributed edge networks.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Connection to Unit V QoS:</a:t>
            </a:r>
            <a:r>
              <a:t> Demonstrates why real-time multimedia (VoIP, video calls) experiences jitter and bufferbloat during network rush hours.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4338CA"/>
                </a:solidFill>
              </a:defRPr>
            </a:pPr>
            <a:r>
              <a:t>DEMONSTRATION &amp; 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47472"/>
            <a:ext cx="36576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PRESENTER: YASHVARDHAN SINGH (590021777)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Live Execution Results, Academic Summary &amp; Future Roadmap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Demonstrating end-to-end functionality and synthesizing key theoretical takeaways.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73152" cy="44439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92224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Live Demonstration Walkthrough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1. Single Command Launch:</a:t>
            </a:r>
            <a:r>
              <a:t>
   `python network_analyzer.py` triggers the full diagnostic engine.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2. Parallel Telemetry Execution:</a:t>
            </a:r>
            <a:r>
              <a:t> Concurrently issues ICMP ping probes, traceroutes, and DNS queries across all configured targets.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3. Clean Terminal Telemetry:</a:t>
            </a:r>
            <a:r>
              <a:t>
   [TARGET: 8.8.8.8] Reachable | 0.0% Loss | Avg: 19.5ms
   [TARGET: 1.1.1.1] Reachable | 0.0% Loss | Avg: 14.2ms
   [TARGET: 192.168.1.1] Reachable | 0.0% Loss | Avg: 1.8ms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4. Automatic Visual Exports:</a:t>
            </a:r>
            <a:r>
              <a:t> Automatically generates and saves high-resolution figures in `./figures/` for engineering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55648"/>
            <a:ext cx="73152" cy="4443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92224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Key Learnings &amp; Future Roadmap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100% Student Task Completion:</a:t>
            </a:r>
            <a:r>
              <a:t> Fulfilled all requirements for subprocess wrappers, regex parsing, and visual analytics.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Syllabus Integration:</a:t>
            </a:r>
            <a:r>
              <a:t> Deepened understanding of OSI layering, IPv4 datagram headers, TTL loop mitigation, and Transport QoS.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Humanized Diagnostic Output:</a:t>
            </a:r>
            <a:r>
              <a:t> Visual latency curves pinpoint bottlenecks significantly faster than scrolling CLI text.</a:t>
            </a:r>
          </a:p>
          <a:p>
            <a:pPr>
              <a:spcBef>
                <a:spcPts val="450"/>
              </a:spcBef>
              <a:defRPr sz="980">
                <a:solidFill>
                  <a:srgbClr val="1E293B"/>
                </a:solidFill>
              </a:defRPr>
            </a:pPr>
            <a:r>
              <a:rPr b="1"/>
              <a:t>• Future Extensions (v2.0):</a:t>
            </a:r>
            <a:r>
              <a:t>
  • GeoIP 3D Map: Project router IP coordinates onto an interactive global map.
  • Autonomous BGP ASN Detection: Identify which telecom carrier is responsible for each transit hop delay.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